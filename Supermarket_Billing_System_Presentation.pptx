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A1E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1B4332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463040" y="4754880"/>
            <a:ext cx="3657600" cy="3657600"/>
          </a:xfrm>
          <a:prstGeom prst="ellipse">
            <a:avLst/>
          </a:prstGeom>
          <a:solidFill>
            <a:srgbClr val="1B4332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13248" y="1051560"/>
            <a:ext cx="1371600" cy="1371600"/>
          </a:xfrm>
          <a:prstGeom prst="ellipse">
            <a:avLst/>
          </a:prstGeom>
          <a:solidFill>
            <a:srgbClr val="FFC300"/>
          </a:solidFill>
          <a:ln/>
        </p:spPr>
      </p:sp>
      <p:sp>
        <p:nvSpPr>
          <p:cNvPr id="6" name="Text 4"/>
          <p:cNvSpPr/>
          <p:nvPr/>
        </p:nvSpPr>
        <p:spPr>
          <a:xfrm>
            <a:off x="5413248" y="105156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F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SUPERMARKET BILLING SYSTEM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31520" y="35204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Products • Calculate Bills • Generate Invoices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402336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 Programming Mini Project  |  Structures &amp; Arrays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80560" y="4709160"/>
            <a:ext cx="3200400" cy="0"/>
          </a:xfrm>
          <a:prstGeom prst="line">
            <a:avLst/>
          </a:prstGeom>
          <a:noFill/>
          <a:ln w="12700">
            <a:solidFill>
              <a:srgbClr val="95D5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493776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Members: </a:t>
            </a:r>
            <a:pPr algn="ctr" indent="0" marL="0">
              <a:buNone/>
            </a:pPr>
            <a:r>
              <a:rPr lang="en-US" sz="1300" dirty="0">
                <a:solidFill>
                  <a:srgbClr val="C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&lt;Your Name&gt;, &lt;Teammate 2&gt;, &lt;Teammate 3&gt;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534924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</a:t>
            </a:r>
            <a:pPr algn="ctr" indent="0" marL="0">
              <a:buNone/>
            </a:pPr>
            <a:r>
              <a:rPr lang="en-US" sz="1300" dirty="0">
                <a:solidFill>
                  <a:srgbClr val="C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&lt;Faculty / Guide Name&gt;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E2E8E4"/>
            </a:solidFill>
            <a:prstDash val="solid"/>
          </a:ln>
          <a:effectLst>
            <a:outerShdw sx="100000" sy="100000" kx="0" ky="0" algn="bl" rotWithShape="0" blurRad="101600" dist="25400" dir="5400000">
              <a:srgbClr val="666666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828800"/>
            <a:ext cx="548640" cy="54864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40" dirty="0"/>
          </a:p>
        </p:txBody>
      </p:sp>
      <p:sp>
        <p:nvSpPr>
          <p:cNvPr id="6" name="Text 4"/>
          <p:cNvSpPr/>
          <p:nvPr/>
        </p:nvSpPr>
        <p:spPr>
          <a:xfrm>
            <a:off x="1600200" y="18745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Problem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514600"/>
            <a:ext cx="4754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Supermarkets often calculate bills manually or with outdated methods — leading to slow checkout, calculation errors, and poor tracking of stock and sales.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4160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Users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452628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Cashiers  •  Store Managers  •  Billing Staff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155448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1B4332"/>
          </a:solidFill>
          <a:ln/>
          <a:effectLst>
            <a:outerShdw sx="100000" sy="100000" kx="0" ky="0" algn="bl" rotWithShape="0" blurRad="101600" dist="25400" dir="5400000">
              <a:srgbClr val="666666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83680" y="1828800"/>
            <a:ext cx="548640" cy="548640"/>
          </a:xfrm>
          <a:prstGeom prst="ellipse">
            <a:avLst/>
          </a:prstGeom>
          <a:solidFill>
            <a:srgbClr val="FFC300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0F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40" dirty="0"/>
          </a:p>
        </p:txBody>
      </p:sp>
      <p:sp>
        <p:nvSpPr>
          <p:cNvPr id="13" name="Text 11"/>
          <p:cNvSpPr/>
          <p:nvPr/>
        </p:nvSpPr>
        <p:spPr>
          <a:xfrm>
            <a:off x="7315200" y="18745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83680" y="251460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4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console-based Supermarket Billing System in C that manages products, calculates bills automatically, and generates invoices for every customer.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0" y="4069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Benefits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83680" y="44348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250" dirty="0">
                <a:solidFill>
                  <a:srgbClr val="E4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billing &amp; checkout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583680" y="478231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250" dirty="0">
                <a:solidFill>
                  <a:srgbClr val="E4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bill &amp; tax calculation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583680" y="5129784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250" dirty="0">
                <a:solidFill>
                  <a:srgbClr val="E4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manual error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83680" y="5477256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250" dirty="0">
                <a:solidFill>
                  <a:srgbClr val="E4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Organized product &amp; sales data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Supermarket Billing System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E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755648"/>
            <a:ext cx="457200" cy="45720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556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691640"/>
            <a:ext cx="2651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new products to inventory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97680" y="155448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26280" y="1755648"/>
            <a:ext cx="457200" cy="457200"/>
          </a:xfrm>
          <a:prstGeom prst="ellipse">
            <a:avLst/>
          </a:prstGeom>
          <a:solidFill>
            <a:srgbClr val="95D5B2"/>
          </a:solidFill>
          <a:ln/>
        </p:spPr>
      </p:sp>
      <p:sp>
        <p:nvSpPr>
          <p:cNvPr id="9" name="Text 7"/>
          <p:cNvSpPr/>
          <p:nvPr/>
        </p:nvSpPr>
        <p:spPr>
          <a:xfrm>
            <a:off x="4526280" y="17556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120640" y="1691640"/>
            <a:ext cx="2651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product details (code, name, price, quantity)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46720" y="155448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75320" y="1755648"/>
            <a:ext cx="457200" cy="45720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13" name="Text 11"/>
          <p:cNvSpPr/>
          <p:nvPr/>
        </p:nvSpPr>
        <p:spPr>
          <a:xfrm>
            <a:off x="8275320" y="17556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869680" y="1691640"/>
            <a:ext cx="2651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total bill amount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10896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E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3310128"/>
            <a:ext cx="457200" cy="457200"/>
          </a:xfrm>
          <a:prstGeom prst="ellipse">
            <a:avLst/>
          </a:prstGeom>
          <a:solidFill>
            <a:srgbClr val="95D5B2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310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3246120"/>
            <a:ext cx="2651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discount &amp; tax calculations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297680" y="310896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E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26280" y="3310128"/>
            <a:ext cx="457200" cy="45720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21" name="Text 19"/>
          <p:cNvSpPr/>
          <p:nvPr/>
        </p:nvSpPr>
        <p:spPr>
          <a:xfrm>
            <a:off x="4526280" y="3310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120640" y="3246120"/>
            <a:ext cx="2651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itemized invoice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046720" y="310896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E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75320" y="3310128"/>
            <a:ext cx="457200" cy="457200"/>
          </a:xfrm>
          <a:prstGeom prst="ellipse">
            <a:avLst/>
          </a:prstGeom>
          <a:solidFill>
            <a:srgbClr val="95D5B2"/>
          </a:solidFill>
          <a:ln/>
        </p:spPr>
      </p:sp>
      <p:sp>
        <p:nvSpPr>
          <p:cNvPr id="25" name="Text 23"/>
          <p:cNvSpPr/>
          <p:nvPr/>
        </p:nvSpPr>
        <p:spPr>
          <a:xfrm>
            <a:off x="8275320" y="3310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869680" y="3246120"/>
            <a:ext cx="2651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product by code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48640" y="466344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E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7240" y="4864608"/>
            <a:ext cx="457200" cy="45720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48646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371600" y="4800600"/>
            <a:ext cx="2651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product price / stock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297680" y="466344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E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26280" y="4864608"/>
            <a:ext cx="457200" cy="457200"/>
          </a:xfrm>
          <a:prstGeom prst="ellipse">
            <a:avLst/>
          </a:prstGeom>
          <a:solidFill>
            <a:srgbClr val="95D5B2"/>
          </a:solidFill>
          <a:ln/>
        </p:spPr>
      </p:sp>
      <p:sp>
        <p:nvSpPr>
          <p:cNvPr id="33" name="Text 31"/>
          <p:cNvSpPr/>
          <p:nvPr/>
        </p:nvSpPr>
        <p:spPr>
          <a:xfrm>
            <a:off x="4526280" y="48646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120640" y="4800600"/>
            <a:ext cx="2651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product records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8046720" y="466344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E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75320" y="4864608"/>
            <a:ext cx="457200" cy="45720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37" name="Text 35"/>
          <p:cNvSpPr/>
          <p:nvPr/>
        </p:nvSpPr>
        <p:spPr>
          <a:xfrm>
            <a:off x="8275320" y="48646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869680" y="4800600"/>
            <a:ext cx="2651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&amp; retrieve data using file handling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Supermarket Billing System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Stories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stories driving the feature set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4572000"/>
                <a:gridCol w="4142232"/>
                <a:gridCol w="137160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Story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Acceptance Criteria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US-01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adds a new product to maintain inventory.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Saved successfully; duplicate codes rejected.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US-02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Cashier searches a product by code for quick billing.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 product details displayed.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US-05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auto-calculates total bill with tax/discount.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 total generated from cart items.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US-06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wants records stored in a file to persist data.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Records saved &amp; loaded via file handling.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US-07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Cashier wants an invoice generated for the customer.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Itemized invoice with total is produced.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1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Supermarket Billing System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Requirements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E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" y="1965960"/>
            <a:ext cx="502920" cy="50292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20" dirty="0"/>
          </a:p>
        </p:txBody>
      </p:sp>
      <p:sp>
        <p:nvSpPr>
          <p:cNvPr id="6" name="Text 4"/>
          <p:cNvSpPr/>
          <p:nvPr/>
        </p:nvSpPr>
        <p:spPr>
          <a:xfrm>
            <a:off x="1417320" y="176479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417320" y="205740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Product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297680" y="160020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98848" y="1965960"/>
            <a:ext cx="502920" cy="50292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10" name="Text 8"/>
          <p:cNvSpPr/>
          <p:nvPr/>
        </p:nvSpPr>
        <p:spPr>
          <a:xfrm>
            <a:off x="4498848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5166360" y="176479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166360" y="205740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Product List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046720" y="160020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47888" y="1965960"/>
            <a:ext cx="502920" cy="50292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15" name="Text 13"/>
          <p:cNvSpPr/>
          <p:nvPr/>
        </p:nvSpPr>
        <p:spPr>
          <a:xfrm>
            <a:off x="8247888" y="1965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8915400" y="176479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915400" y="205740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Product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297180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E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9808" y="3337560"/>
            <a:ext cx="502920" cy="50292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20" name="Text 18"/>
          <p:cNvSpPr/>
          <p:nvPr/>
        </p:nvSpPr>
        <p:spPr>
          <a:xfrm>
            <a:off x="749808" y="3337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1417320" y="313639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417320" y="342900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Product Details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4297680" y="297180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E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98848" y="3337560"/>
            <a:ext cx="502920" cy="50292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25" name="Text 23"/>
          <p:cNvSpPr/>
          <p:nvPr/>
        </p:nvSpPr>
        <p:spPr>
          <a:xfrm>
            <a:off x="4498848" y="3337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20" dirty="0"/>
          </a:p>
        </p:txBody>
      </p:sp>
      <p:sp>
        <p:nvSpPr>
          <p:cNvPr id="26" name="Text 24"/>
          <p:cNvSpPr/>
          <p:nvPr/>
        </p:nvSpPr>
        <p:spPr>
          <a:xfrm>
            <a:off x="5166360" y="313639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166360" y="342900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Product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8046720" y="297180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E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47888" y="3337560"/>
            <a:ext cx="502920" cy="50292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30" name="Text 28"/>
          <p:cNvSpPr/>
          <p:nvPr/>
        </p:nvSpPr>
        <p:spPr>
          <a:xfrm>
            <a:off x="8247888" y="3337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20" dirty="0"/>
          </a:p>
        </p:txBody>
      </p:sp>
      <p:sp>
        <p:nvSpPr>
          <p:cNvPr id="31" name="Text 29"/>
          <p:cNvSpPr/>
          <p:nvPr/>
        </p:nvSpPr>
        <p:spPr>
          <a:xfrm>
            <a:off x="8915400" y="313639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915400" y="342900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Bill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548640" y="434340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E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49808" y="4709160"/>
            <a:ext cx="502920" cy="50292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35" name="Text 33"/>
          <p:cNvSpPr/>
          <p:nvPr/>
        </p:nvSpPr>
        <p:spPr>
          <a:xfrm>
            <a:off x="749808" y="4709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20" dirty="0"/>
          </a:p>
        </p:txBody>
      </p:sp>
      <p:sp>
        <p:nvSpPr>
          <p:cNvPr id="36" name="Text 34"/>
          <p:cNvSpPr/>
          <p:nvPr/>
        </p:nvSpPr>
        <p:spPr>
          <a:xfrm>
            <a:off x="1417320" y="450799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FR-07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417320" y="480060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Invoice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4297680" y="434340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E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498848" y="4709160"/>
            <a:ext cx="502920" cy="50292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40" name="Text 38"/>
          <p:cNvSpPr/>
          <p:nvPr/>
        </p:nvSpPr>
        <p:spPr>
          <a:xfrm>
            <a:off x="4498848" y="4709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20" dirty="0"/>
          </a:p>
        </p:txBody>
      </p:sp>
      <p:sp>
        <p:nvSpPr>
          <p:cNvPr id="41" name="Text 39"/>
          <p:cNvSpPr/>
          <p:nvPr/>
        </p:nvSpPr>
        <p:spPr>
          <a:xfrm>
            <a:off x="5166360" y="450799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FR-08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166360" y="480060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Records to File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8046720" y="434340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E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247888" y="4709160"/>
            <a:ext cx="502920" cy="50292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45" name="Text 43"/>
          <p:cNvSpPr/>
          <p:nvPr/>
        </p:nvSpPr>
        <p:spPr>
          <a:xfrm>
            <a:off x="8247888" y="4709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20" dirty="0"/>
          </a:p>
        </p:txBody>
      </p:sp>
      <p:sp>
        <p:nvSpPr>
          <p:cNvPr id="46" name="Text 44"/>
          <p:cNvSpPr/>
          <p:nvPr/>
        </p:nvSpPr>
        <p:spPr>
          <a:xfrm>
            <a:off x="8915400" y="450799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FR-09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915400" y="480060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Records from File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Supermarket Billing System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Flowchart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937760" y="1508760"/>
            <a:ext cx="2286000" cy="548640"/>
          </a:xfrm>
          <a:prstGeom prst="roundRect">
            <a:avLst>
              <a:gd name="adj" fmla="val 13333"/>
            </a:avLst>
          </a:prstGeom>
          <a:solidFill>
            <a:srgbClr val="0F2A1E"/>
          </a:solidFill>
          <a:ln/>
        </p:spPr>
      </p:sp>
      <p:sp>
        <p:nvSpPr>
          <p:cNvPr id="4" name="Text 2"/>
          <p:cNvSpPr/>
          <p:nvPr/>
        </p:nvSpPr>
        <p:spPr>
          <a:xfrm>
            <a:off x="4937760" y="15087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/ Load Products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80760" y="2057400"/>
            <a:ext cx="0" cy="320040"/>
          </a:xfrm>
          <a:prstGeom prst="line">
            <a:avLst/>
          </a:prstGeom>
          <a:noFill/>
          <a:ln w="19050">
            <a:solidFill>
              <a:srgbClr val="5B6B61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937760" y="2377440"/>
            <a:ext cx="2286000" cy="548640"/>
          </a:xfrm>
          <a:prstGeom prst="roundRect">
            <a:avLst>
              <a:gd name="adj" fmla="val 13333"/>
            </a:avLst>
          </a:prstGeom>
          <a:solidFill>
            <a:srgbClr val="1B4332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0" y="23774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Main Menu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080760" y="2926080"/>
            <a:ext cx="0" cy="320040"/>
          </a:xfrm>
          <a:prstGeom prst="line">
            <a:avLst/>
          </a:prstGeom>
          <a:noFill/>
          <a:ln w="19050">
            <a:solidFill>
              <a:srgbClr val="5B6B61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57200" y="3520440"/>
            <a:ext cx="1783080" cy="640080"/>
          </a:xfrm>
          <a:prstGeom prst="roundRect">
            <a:avLst>
              <a:gd name="adj" fmla="val 11429"/>
            </a:avLst>
          </a:prstGeom>
          <a:solidFill>
            <a:srgbClr val="95D5B2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52044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F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423160" y="3520440"/>
            <a:ext cx="1783080" cy="640080"/>
          </a:xfrm>
          <a:prstGeom prst="roundRect">
            <a:avLst>
              <a:gd name="adj" fmla="val 11429"/>
            </a:avLst>
          </a:prstGeom>
          <a:solidFill>
            <a:srgbClr val="95D5B2"/>
          </a:solidFill>
          <a:ln/>
        </p:spPr>
      </p:sp>
      <p:sp>
        <p:nvSpPr>
          <p:cNvPr id="12" name="Text 10"/>
          <p:cNvSpPr/>
          <p:nvPr/>
        </p:nvSpPr>
        <p:spPr>
          <a:xfrm>
            <a:off x="2423160" y="352044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/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F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/ Delete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389120" y="3520440"/>
            <a:ext cx="1783080" cy="640080"/>
          </a:xfrm>
          <a:prstGeom prst="roundRect">
            <a:avLst>
              <a:gd name="adj" fmla="val 11429"/>
            </a:avLst>
          </a:prstGeom>
          <a:solidFill>
            <a:srgbClr val="FFC300"/>
          </a:solidFill>
          <a:ln/>
        </p:spPr>
      </p:sp>
      <p:sp>
        <p:nvSpPr>
          <p:cNvPr id="14" name="Text 12"/>
          <p:cNvSpPr/>
          <p:nvPr/>
        </p:nvSpPr>
        <p:spPr>
          <a:xfrm>
            <a:off x="4389120" y="352044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F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(Cart)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355080" y="3520440"/>
            <a:ext cx="1783080" cy="640080"/>
          </a:xfrm>
          <a:prstGeom prst="roundRect">
            <a:avLst>
              <a:gd name="adj" fmla="val 11429"/>
            </a:avLst>
          </a:prstGeom>
          <a:solidFill>
            <a:srgbClr val="95D5B2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352044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F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(Tax)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321040" y="3520440"/>
            <a:ext cx="1783080" cy="640080"/>
          </a:xfrm>
          <a:prstGeom prst="roundRect">
            <a:avLst>
              <a:gd name="adj" fmla="val 11429"/>
            </a:avLst>
          </a:prstGeom>
          <a:solidFill>
            <a:srgbClr val="95D5B2"/>
          </a:solidFill>
          <a:ln/>
        </p:spPr>
      </p:sp>
      <p:sp>
        <p:nvSpPr>
          <p:cNvPr id="18" name="Text 16"/>
          <p:cNvSpPr/>
          <p:nvPr/>
        </p:nvSpPr>
        <p:spPr>
          <a:xfrm>
            <a:off x="8321040" y="352044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F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1344168" y="3246120"/>
            <a:ext cx="0" cy="274320"/>
          </a:xfrm>
          <a:prstGeom prst="line">
            <a:avLst/>
          </a:prstGeom>
          <a:noFill/>
          <a:ln w="19050">
            <a:solidFill>
              <a:srgbClr val="5B6B6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344168" y="3246120"/>
            <a:ext cx="7863840" cy="0"/>
          </a:xfrm>
          <a:prstGeom prst="line">
            <a:avLst/>
          </a:prstGeom>
          <a:noFill/>
          <a:ln w="19050">
            <a:solidFill>
              <a:srgbClr val="5B6B6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08008" y="3246120"/>
            <a:ext cx="0" cy="274320"/>
          </a:xfrm>
          <a:prstGeom prst="line">
            <a:avLst/>
          </a:prstGeom>
          <a:noFill/>
          <a:ln w="19050">
            <a:solidFill>
              <a:srgbClr val="5B6B61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310128" y="3246120"/>
            <a:ext cx="0" cy="274320"/>
          </a:xfrm>
          <a:prstGeom prst="line">
            <a:avLst/>
          </a:prstGeom>
          <a:noFill/>
          <a:ln w="19050">
            <a:solidFill>
              <a:srgbClr val="5B6B61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276088" y="3246120"/>
            <a:ext cx="0" cy="274320"/>
          </a:xfrm>
          <a:prstGeom prst="line">
            <a:avLst/>
          </a:prstGeom>
          <a:noFill/>
          <a:ln w="19050">
            <a:solidFill>
              <a:srgbClr val="5B6B61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242048" y="3246120"/>
            <a:ext cx="0" cy="274320"/>
          </a:xfrm>
          <a:prstGeom prst="line">
            <a:avLst/>
          </a:prstGeom>
          <a:noFill/>
          <a:ln w="19050">
            <a:solidFill>
              <a:srgbClr val="5B6B61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080760" y="4297680"/>
            <a:ext cx="0" cy="365760"/>
          </a:xfrm>
          <a:prstGeom prst="line">
            <a:avLst/>
          </a:prstGeom>
          <a:noFill/>
          <a:ln w="19050">
            <a:solidFill>
              <a:srgbClr val="5B6B61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4937760" y="4709160"/>
            <a:ext cx="2286000" cy="548640"/>
          </a:xfrm>
          <a:prstGeom prst="roundRect">
            <a:avLst>
              <a:gd name="adj" fmla="val 13333"/>
            </a:avLst>
          </a:prstGeom>
          <a:solidFill>
            <a:srgbClr val="1B4332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47091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to File (Data)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080760" y="5303520"/>
            <a:ext cx="0" cy="320040"/>
          </a:xfrm>
          <a:prstGeom prst="line">
            <a:avLst/>
          </a:prstGeom>
          <a:noFill/>
          <a:ln w="19050">
            <a:solidFill>
              <a:srgbClr val="5B6B61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937760" y="5669280"/>
            <a:ext cx="2286000" cy="502920"/>
          </a:xfrm>
          <a:prstGeom prst="roundRect">
            <a:avLst>
              <a:gd name="adj" fmla="val 14545"/>
            </a:avLst>
          </a:prstGeom>
          <a:solidFill>
            <a:srgbClr val="0F2A1E"/>
          </a:solidFill>
          <a:ln/>
        </p:spPr>
      </p:sp>
      <p:sp>
        <p:nvSpPr>
          <p:cNvPr id="30" name="Text 28"/>
          <p:cNvSpPr/>
          <p:nvPr/>
        </p:nvSpPr>
        <p:spPr>
          <a:xfrm>
            <a:off x="4937760" y="56692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Supermarket Billing System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Modules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4782312"/>
                <a:gridCol w="3200400"/>
              </a:tblGrid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Concepts Used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Registration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new product information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Structures, Functions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1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 Entry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 &amp; manage product quantities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 Calculation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Subtotal, tax, discount &amp; 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1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Search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records using Product Code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 Record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Modify existing product details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1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Record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product records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Invoice Generation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 itemized invoice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Functions, File Handling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1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Management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Save / retrieve records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Handling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Supermarket Billing System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Programming Concepts Used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85800" y="146304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1B4332"/>
          </a:solidFill>
          <a:ln/>
        </p:spPr>
      </p:sp>
      <p:sp>
        <p:nvSpPr>
          <p:cNvPr id="4" name="Shape 2"/>
          <p:cNvSpPr/>
          <p:nvPr/>
        </p:nvSpPr>
        <p:spPr>
          <a:xfrm>
            <a:off x="1668780" y="1691640"/>
            <a:ext cx="640080" cy="640080"/>
          </a:xfrm>
          <a:prstGeom prst="ellipse">
            <a:avLst/>
          </a:prstGeom>
          <a:solidFill>
            <a:srgbClr val="FFC300"/>
          </a:solidFill>
          <a:ln/>
        </p:spPr>
      </p:sp>
      <p:sp>
        <p:nvSpPr>
          <p:cNvPr id="5" name="Text 3"/>
          <p:cNvSpPr/>
          <p:nvPr/>
        </p:nvSpPr>
        <p:spPr>
          <a:xfrm>
            <a:off x="1668780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record management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520440" y="146304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1B4332"/>
          </a:solidFill>
          <a:ln/>
        </p:spPr>
      </p:sp>
      <p:sp>
        <p:nvSpPr>
          <p:cNvPr id="9" name="Shape 7"/>
          <p:cNvSpPr/>
          <p:nvPr/>
        </p:nvSpPr>
        <p:spPr>
          <a:xfrm>
            <a:off x="4503420" y="1691640"/>
            <a:ext cx="640080" cy="640080"/>
          </a:xfrm>
          <a:prstGeom prst="ellipse">
            <a:avLst/>
          </a:prstGeom>
          <a:solidFill>
            <a:srgbClr val="FFC300"/>
          </a:solidFill>
          <a:ln/>
        </p:spPr>
      </p:sp>
      <p:sp>
        <p:nvSpPr>
          <p:cNvPr id="10" name="Text 8"/>
          <p:cNvSpPr/>
          <p:nvPr/>
        </p:nvSpPr>
        <p:spPr>
          <a:xfrm>
            <a:off x="4503420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657600" y="24231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0" y="27889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products &amp; cart items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355080" y="146304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1B4332"/>
          </a:solidFill>
          <a:ln/>
        </p:spPr>
      </p:sp>
      <p:sp>
        <p:nvSpPr>
          <p:cNvPr id="14" name="Shape 12"/>
          <p:cNvSpPr/>
          <p:nvPr/>
        </p:nvSpPr>
        <p:spPr>
          <a:xfrm>
            <a:off x="7338060" y="1691640"/>
            <a:ext cx="640080" cy="640080"/>
          </a:xfrm>
          <a:prstGeom prst="ellipse">
            <a:avLst/>
          </a:prstGeom>
          <a:solidFill>
            <a:srgbClr val="FFC300"/>
          </a:solidFill>
          <a:ln/>
        </p:spPr>
      </p:sp>
      <p:sp>
        <p:nvSpPr>
          <p:cNvPr id="15" name="Text 13"/>
          <p:cNvSpPr/>
          <p:nvPr/>
        </p:nvSpPr>
        <p:spPr>
          <a:xfrm>
            <a:off x="7338060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492240" y="24231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92240" y="27889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program design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189720" y="146304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1B4332"/>
          </a:solidFill>
          <a:ln/>
        </p:spPr>
      </p:sp>
      <p:sp>
        <p:nvSpPr>
          <p:cNvPr id="19" name="Shape 17"/>
          <p:cNvSpPr/>
          <p:nvPr/>
        </p:nvSpPr>
        <p:spPr>
          <a:xfrm>
            <a:off x="10172700" y="1691640"/>
            <a:ext cx="640080" cy="640080"/>
          </a:xfrm>
          <a:prstGeom prst="ellipse">
            <a:avLst/>
          </a:prstGeom>
          <a:solidFill>
            <a:srgbClr val="FFC300"/>
          </a:solidFill>
          <a:ln/>
        </p:spPr>
      </p:sp>
      <p:sp>
        <p:nvSpPr>
          <p:cNvPr id="20" name="Text 18"/>
          <p:cNvSpPr/>
          <p:nvPr/>
        </p:nvSpPr>
        <p:spPr>
          <a:xfrm>
            <a:off x="10172700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326880" y="24231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Loops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326880" y="27889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Menu-driven operations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85800" y="365760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1B4332"/>
          </a:solidFill>
          <a:ln/>
        </p:spPr>
      </p:sp>
      <p:sp>
        <p:nvSpPr>
          <p:cNvPr id="24" name="Shape 22"/>
          <p:cNvSpPr/>
          <p:nvPr/>
        </p:nvSpPr>
        <p:spPr>
          <a:xfrm>
            <a:off x="1668780" y="3886200"/>
            <a:ext cx="640080" cy="640080"/>
          </a:xfrm>
          <a:prstGeom prst="ellipse">
            <a:avLst/>
          </a:prstGeom>
          <a:solidFill>
            <a:srgbClr val="FFC300"/>
          </a:solidFill>
          <a:ln/>
        </p:spPr>
      </p:sp>
      <p:sp>
        <p:nvSpPr>
          <p:cNvPr id="25" name="Text 23"/>
          <p:cNvSpPr/>
          <p:nvPr/>
        </p:nvSpPr>
        <p:spPr>
          <a:xfrm>
            <a:off x="1668780" y="3886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22960" y="46177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Switch Case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22960" y="49834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selection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520440" y="365760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1B4332"/>
          </a:solidFill>
          <a:ln/>
        </p:spPr>
      </p:sp>
      <p:sp>
        <p:nvSpPr>
          <p:cNvPr id="29" name="Shape 27"/>
          <p:cNvSpPr/>
          <p:nvPr/>
        </p:nvSpPr>
        <p:spPr>
          <a:xfrm>
            <a:off x="4503420" y="3886200"/>
            <a:ext cx="640080" cy="640080"/>
          </a:xfrm>
          <a:prstGeom prst="ellipse">
            <a:avLst/>
          </a:prstGeom>
          <a:solidFill>
            <a:srgbClr val="FFC300"/>
          </a:solidFill>
          <a:ln/>
        </p:spPr>
      </p:sp>
      <p:sp>
        <p:nvSpPr>
          <p:cNvPr id="30" name="Text 28"/>
          <p:cNvSpPr/>
          <p:nvPr/>
        </p:nvSpPr>
        <p:spPr>
          <a:xfrm>
            <a:off x="4503420" y="3886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3657600" y="46177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Conditionals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3657600" y="49834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 discount rules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355080" y="365760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1B4332"/>
          </a:solidFill>
          <a:ln/>
        </p:spPr>
      </p:sp>
      <p:sp>
        <p:nvSpPr>
          <p:cNvPr id="34" name="Shape 32"/>
          <p:cNvSpPr/>
          <p:nvPr/>
        </p:nvSpPr>
        <p:spPr>
          <a:xfrm>
            <a:off x="7338060" y="3886200"/>
            <a:ext cx="640080" cy="640080"/>
          </a:xfrm>
          <a:prstGeom prst="ellipse">
            <a:avLst/>
          </a:prstGeom>
          <a:solidFill>
            <a:srgbClr val="FFC300"/>
          </a:solidFill>
          <a:ln/>
        </p:spPr>
      </p:sp>
      <p:sp>
        <p:nvSpPr>
          <p:cNvPr id="35" name="Text 33"/>
          <p:cNvSpPr/>
          <p:nvPr/>
        </p:nvSpPr>
        <p:spPr>
          <a:xfrm>
            <a:off x="7338060" y="3886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6492240" y="46177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 Handling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492240" y="49834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data storage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9189720" y="365760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1B4332"/>
          </a:solidFill>
          <a:ln/>
        </p:spPr>
      </p:sp>
      <p:sp>
        <p:nvSpPr>
          <p:cNvPr id="39" name="Shape 37"/>
          <p:cNvSpPr/>
          <p:nvPr/>
        </p:nvSpPr>
        <p:spPr>
          <a:xfrm>
            <a:off x="10172700" y="3886200"/>
            <a:ext cx="640080" cy="640080"/>
          </a:xfrm>
          <a:prstGeom prst="ellipse">
            <a:avLst/>
          </a:prstGeom>
          <a:solidFill>
            <a:srgbClr val="FFC300"/>
          </a:solidFill>
          <a:ln/>
        </p:spPr>
      </p:sp>
      <p:sp>
        <p:nvSpPr>
          <p:cNvPr id="40" name="Text 38"/>
          <p:cNvSpPr/>
          <p:nvPr/>
        </p:nvSpPr>
        <p:spPr>
          <a:xfrm>
            <a:off x="10172700" y="3886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9326880" y="46177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9326880" y="49834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Prices, totals, tax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Supermarket Billing System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Explanation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structure and billing logic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86400" cy="4572000"/>
          </a:xfrm>
          <a:prstGeom prst="roundRect">
            <a:avLst>
              <a:gd name="adj" fmla="val 1600"/>
            </a:avLst>
          </a:prstGeom>
          <a:solidFill>
            <a:srgbClr val="0F2A1E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459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Structure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011680"/>
            <a:ext cx="5029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F0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typedef struct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4F0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  code;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4F0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char  name[NAME_LEN];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4F0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float price;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4F0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  quantity;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4F0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Product;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4F0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typedef struct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4F0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  code;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4F0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char  name[NAME_LEN];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4F0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float price;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4F0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  qty;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4F0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float total;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4F0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CartItem;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508760"/>
            <a:ext cx="5394960" cy="4572000"/>
          </a:xfrm>
          <a:prstGeom prst="roundRect">
            <a:avLst>
              <a:gd name="adj" fmla="val 1600"/>
            </a:avLst>
          </a:prstGeom>
          <a:solidFill>
            <a:srgbClr val="0F2A1E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16459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Calculation Logic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92240" y="2011680"/>
            <a:ext cx="49377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F0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 = 0; i &lt; cartCount; i++)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4F0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*subtotal += cart[i].total;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4F0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(*subtotal &gt; DISCOUNT_LIMIT)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4F0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*discount = *subtotal * DISCOUNT_RATE;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4F0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4F0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*discount = 0;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4F0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*tax = (*subtotal - *discount)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4F0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* TAX_RATE;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4F0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*grandTotal = (*subtotal - *discount)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4F0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+ *tax;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Supermarket Billing System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Demonstration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502920" cy="50292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371600" y="1527048"/>
            <a:ext cx="102412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00200" y="1527048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the program — existing products load automatically from Data/products.txt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496312"/>
            <a:ext cx="502920" cy="502920"/>
          </a:xfrm>
          <a:prstGeom prst="ellipse">
            <a:avLst/>
          </a:prstGeom>
          <a:solidFill>
            <a:srgbClr val="95D5B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4963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371600" y="2423160"/>
            <a:ext cx="102412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00200" y="2423160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products via Menu Option 1 (Product Code, Name, Price, Stock)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3392424"/>
            <a:ext cx="502920" cy="50292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3924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371600" y="3319272"/>
            <a:ext cx="102412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00200" y="3319272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 bill via Menu Option 6 — add items to the cart by Product Code &amp; Quantity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4288536"/>
            <a:ext cx="502920" cy="502920"/>
          </a:xfrm>
          <a:prstGeom prst="ellipse">
            <a:avLst/>
          </a:prstGeom>
          <a:solidFill>
            <a:srgbClr val="95D5B2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2885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371600" y="4215384"/>
            <a:ext cx="102412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00200" y="4215384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validates stock, calculates subtotal, discount, tax and grand total automatically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5184648"/>
            <a:ext cx="502920" cy="50292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1846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371600" y="5111496"/>
            <a:ext cx="102412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600200" y="5111496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itemized invoice is displayed and saved to the Data folder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Supermarket Billing System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Screenshots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console output from the running program</a:t>
            </a:r>
            <a:endParaRPr lang="en-US" sz="1400" dirty="0"/>
          </a:p>
        </p:txBody>
      </p:sp>
      <p:pic>
        <p:nvPicPr>
          <p:cNvPr id="4" name="Image 0" descr="/home/claude/Supermarket-Billing-System/Output/Screenshots/screenshot_2_display_produc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00200"/>
            <a:ext cx="5394960" cy="4572000"/>
          </a:xfrm>
          <a:prstGeom prst="rect">
            <a:avLst/>
          </a:prstGeom>
        </p:spPr>
      </p:pic>
      <p:pic>
        <p:nvPicPr>
          <p:cNvPr id="5" name="Image 1" descr="/home/claude/Supermarket-Billing-System/Output/Screenshots/screenshot_3_billing_invoic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72200" y="1600200"/>
            <a:ext cx="5486400" cy="45720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621792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Products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6172200" y="6217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&amp; Invoice Generation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Supermarket Billing System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Faced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E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600200"/>
            <a:ext cx="91440" cy="132588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373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Stock Validation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Preventing a sale from exceeding available stock in real time.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63640" y="1600200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63640" y="1600200"/>
            <a:ext cx="91440" cy="132588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7373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Buffer Handling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37960" y="210312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leftover newline characters between scanf() calls.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154680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154680"/>
            <a:ext cx="91440" cy="132588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2918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Discount &amp; Tax Rules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" y="365760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a clean formula for tiered discounts plus tax.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63640" y="3154680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E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63640" y="3154680"/>
            <a:ext cx="91440" cy="132588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7" name="Text 15"/>
          <p:cNvSpPr/>
          <p:nvPr/>
        </p:nvSpPr>
        <p:spPr>
          <a:xfrm>
            <a:off x="6537960" y="32918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Invoice Numbering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37960" y="365760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invoice numbers unique across multiple program runs.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709160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E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4709160"/>
            <a:ext cx="91440" cy="132588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8463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Persistence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22960" y="521208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Reliably saving and reloading records via file handling.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63640" y="4709160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E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63640" y="4709160"/>
            <a:ext cx="91440" cy="132588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25" name="Text 23"/>
          <p:cNvSpPr/>
          <p:nvPr/>
        </p:nvSpPr>
        <p:spPr>
          <a:xfrm>
            <a:off x="6537960" y="48463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Duplicate Records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537960" y="521208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Rejecting duplicate product codes during registration.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Supermarket Billing System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2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1B4332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" y="1554480"/>
            <a:ext cx="502920" cy="502920"/>
          </a:xfrm>
          <a:prstGeom prst="ellipse">
            <a:avLst/>
          </a:prstGeom>
          <a:solidFill>
            <a:srgbClr val="FFC300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0F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20" dirty="0"/>
          </a:p>
        </p:txBody>
      </p:sp>
      <p:sp>
        <p:nvSpPr>
          <p:cNvPr id="6" name="Text 4"/>
          <p:cNvSpPr/>
          <p:nvPr/>
        </p:nvSpPr>
        <p:spPr>
          <a:xfrm>
            <a:off x="1371600" y="1490472"/>
            <a:ext cx="443484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 / QR code scanning for faster billing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41732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1B4332"/>
          </a:solidFill>
          <a:ln/>
        </p:spPr>
      </p:sp>
      <p:sp>
        <p:nvSpPr>
          <p:cNvPr id="8" name="Shape 6"/>
          <p:cNvSpPr/>
          <p:nvPr/>
        </p:nvSpPr>
        <p:spPr>
          <a:xfrm>
            <a:off x="6428232" y="1554480"/>
            <a:ext cx="502920" cy="502920"/>
          </a:xfrm>
          <a:prstGeom prst="ellipse">
            <a:avLst/>
          </a:prstGeom>
          <a:solidFill>
            <a:srgbClr val="FFC300"/>
          </a:solidFill>
          <a:ln/>
        </p:spPr>
      </p:sp>
      <p:sp>
        <p:nvSpPr>
          <p:cNvPr id="9" name="Text 7"/>
          <p:cNvSpPr/>
          <p:nvPr/>
        </p:nvSpPr>
        <p:spPr>
          <a:xfrm>
            <a:off x="6428232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0F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7086600" y="1490472"/>
            <a:ext cx="443484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GST-compliant multi-slab tax calculation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37744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1B4332"/>
          </a:solidFill>
          <a:ln/>
        </p:spPr>
      </p:sp>
      <p:sp>
        <p:nvSpPr>
          <p:cNvPr id="12" name="Shape 10"/>
          <p:cNvSpPr/>
          <p:nvPr/>
        </p:nvSpPr>
        <p:spPr>
          <a:xfrm>
            <a:off x="713232" y="2514600"/>
            <a:ext cx="502920" cy="502920"/>
          </a:xfrm>
          <a:prstGeom prst="ellipse">
            <a:avLst/>
          </a:prstGeom>
          <a:solidFill>
            <a:srgbClr val="FFC300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" y="2514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0F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1371600" y="2450592"/>
            <a:ext cx="443484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Graphical User Interface (GUI) using a GUI toolkit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63640" y="237744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1B4332"/>
          </a:solidFill>
          <a:ln/>
        </p:spPr>
      </p:sp>
      <p:sp>
        <p:nvSpPr>
          <p:cNvPr id="16" name="Shape 14"/>
          <p:cNvSpPr/>
          <p:nvPr/>
        </p:nvSpPr>
        <p:spPr>
          <a:xfrm>
            <a:off x="6428232" y="2514600"/>
            <a:ext cx="502920" cy="502920"/>
          </a:xfrm>
          <a:prstGeom prst="ellipse">
            <a:avLst/>
          </a:prstGeom>
          <a:solidFill>
            <a:srgbClr val="FFC300"/>
          </a:solidFill>
          <a:ln/>
        </p:spPr>
      </p:sp>
      <p:sp>
        <p:nvSpPr>
          <p:cNvPr id="17" name="Text 15"/>
          <p:cNvSpPr/>
          <p:nvPr/>
        </p:nvSpPr>
        <p:spPr>
          <a:xfrm>
            <a:off x="6428232" y="2514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0F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7086600" y="2450592"/>
            <a:ext cx="443484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integration (SQLite / MySQL) instead of text files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33756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1B4332"/>
          </a:solidFill>
          <a:ln/>
        </p:spPr>
      </p:sp>
      <p:sp>
        <p:nvSpPr>
          <p:cNvPr id="20" name="Shape 18"/>
          <p:cNvSpPr/>
          <p:nvPr/>
        </p:nvSpPr>
        <p:spPr>
          <a:xfrm>
            <a:off x="713232" y="3474720"/>
            <a:ext cx="502920" cy="502920"/>
          </a:xfrm>
          <a:prstGeom prst="ellipse">
            <a:avLst/>
          </a:prstGeom>
          <a:solidFill>
            <a:srgbClr val="FFC300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" y="3474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0F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1371600" y="3410712"/>
            <a:ext cx="443484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loyalty points &amp; membership discounts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263640" y="333756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1B4332"/>
          </a:solidFill>
          <a:ln/>
        </p:spPr>
      </p:sp>
      <p:sp>
        <p:nvSpPr>
          <p:cNvPr id="24" name="Shape 22"/>
          <p:cNvSpPr/>
          <p:nvPr/>
        </p:nvSpPr>
        <p:spPr>
          <a:xfrm>
            <a:off x="6428232" y="3474720"/>
            <a:ext cx="502920" cy="502920"/>
          </a:xfrm>
          <a:prstGeom prst="ellipse">
            <a:avLst/>
          </a:prstGeom>
          <a:solidFill>
            <a:srgbClr val="FFC300"/>
          </a:solidFill>
          <a:ln/>
        </p:spPr>
      </p:sp>
      <p:sp>
        <p:nvSpPr>
          <p:cNvPr id="25" name="Text 23"/>
          <p:cNvSpPr/>
          <p:nvPr/>
        </p:nvSpPr>
        <p:spPr>
          <a:xfrm>
            <a:off x="6428232" y="3474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0F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20" dirty="0"/>
          </a:p>
        </p:txBody>
      </p:sp>
      <p:sp>
        <p:nvSpPr>
          <p:cNvPr id="26" name="Text 24"/>
          <p:cNvSpPr/>
          <p:nvPr/>
        </p:nvSpPr>
        <p:spPr>
          <a:xfrm>
            <a:off x="7086600" y="3410712"/>
            <a:ext cx="443484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Multi-user login for cashiers and admin roles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48640" y="429768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1B4332"/>
          </a:solidFill>
          <a:ln/>
        </p:spPr>
      </p:sp>
      <p:sp>
        <p:nvSpPr>
          <p:cNvPr id="28" name="Shape 26"/>
          <p:cNvSpPr/>
          <p:nvPr/>
        </p:nvSpPr>
        <p:spPr>
          <a:xfrm>
            <a:off x="713232" y="4434840"/>
            <a:ext cx="502920" cy="502920"/>
          </a:xfrm>
          <a:prstGeom prst="ellipse">
            <a:avLst/>
          </a:prstGeom>
          <a:solidFill>
            <a:srgbClr val="FFC300"/>
          </a:solidFill>
          <a:ln/>
        </p:spPr>
      </p:sp>
      <p:sp>
        <p:nvSpPr>
          <p:cNvPr id="29" name="Text 27"/>
          <p:cNvSpPr/>
          <p:nvPr/>
        </p:nvSpPr>
        <p:spPr>
          <a:xfrm>
            <a:off x="713232" y="4434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0F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20" dirty="0"/>
          </a:p>
        </p:txBody>
      </p:sp>
      <p:sp>
        <p:nvSpPr>
          <p:cNvPr id="30" name="Text 28"/>
          <p:cNvSpPr/>
          <p:nvPr/>
        </p:nvSpPr>
        <p:spPr>
          <a:xfrm>
            <a:off x="1371600" y="4370832"/>
            <a:ext cx="443484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sync for multi-branch supermarkets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263640" y="429768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1B4332"/>
          </a:solidFill>
          <a:ln/>
        </p:spPr>
      </p:sp>
      <p:sp>
        <p:nvSpPr>
          <p:cNvPr id="32" name="Shape 30"/>
          <p:cNvSpPr/>
          <p:nvPr/>
        </p:nvSpPr>
        <p:spPr>
          <a:xfrm>
            <a:off x="6428232" y="4434840"/>
            <a:ext cx="502920" cy="502920"/>
          </a:xfrm>
          <a:prstGeom prst="ellipse">
            <a:avLst/>
          </a:prstGeom>
          <a:solidFill>
            <a:srgbClr val="FFC300"/>
          </a:solidFill>
          <a:ln/>
        </p:spPr>
      </p:sp>
      <p:sp>
        <p:nvSpPr>
          <p:cNvPr id="33" name="Text 31"/>
          <p:cNvSpPr/>
          <p:nvPr/>
        </p:nvSpPr>
        <p:spPr>
          <a:xfrm>
            <a:off x="6428232" y="4434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0F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20" dirty="0"/>
          </a:p>
        </p:txBody>
      </p:sp>
      <p:sp>
        <p:nvSpPr>
          <p:cNvPr id="34" name="Text 32"/>
          <p:cNvSpPr/>
          <p:nvPr/>
        </p:nvSpPr>
        <p:spPr>
          <a:xfrm>
            <a:off x="7086600" y="4370832"/>
            <a:ext cx="443484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Printable / PDF invoice export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Supermarket Billing System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Repository Demo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120640" cy="4572000"/>
          </a:xfrm>
          <a:prstGeom prst="roundRect">
            <a:avLst>
              <a:gd name="adj" fmla="val 1600"/>
            </a:avLst>
          </a:prstGeom>
          <a:solidFill>
            <a:srgbClr val="0F2A1E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783080"/>
            <a:ext cx="466344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F0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Supermarket-Billing-System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4F0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|-- SourceCode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4F0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|-- main.c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4F0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|-- billing.c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4F0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`-- billing.h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4F0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|-- Report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4F0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`-- Project_Report.docx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4F0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|-- PPT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4F0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`-- Presentation.pptx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4F0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|-- Output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4F0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`-- Screenshots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4F0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|-- Data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4F0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`-- products.txt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4F0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|-- README.md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4F0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`-- LICENSE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80760" y="1691640"/>
            <a:ext cx="365760" cy="365760"/>
          </a:xfrm>
          <a:prstGeom prst="ellipse">
            <a:avLst/>
          </a:prstGeom>
          <a:solidFill>
            <a:srgbClr val="95D5B2"/>
          </a:solidFill>
          <a:ln/>
        </p:spPr>
      </p:sp>
      <p:sp>
        <p:nvSpPr>
          <p:cNvPr id="6" name="Text 4"/>
          <p:cNvSpPr/>
          <p:nvPr/>
        </p:nvSpPr>
        <p:spPr>
          <a:xfrm>
            <a:off x="6080760" y="1691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0F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60" dirty="0"/>
          </a:p>
        </p:txBody>
      </p:sp>
      <p:sp>
        <p:nvSpPr>
          <p:cNvPr id="7" name="Text 5"/>
          <p:cNvSpPr/>
          <p:nvPr/>
        </p:nvSpPr>
        <p:spPr>
          <a:xfrm>
            <a:off x="6583680" y="1618488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repository with complete, executable source code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80760" y="2468880"/>
            <a:ext cx="365760" cy="365760"/>
          </a:xfrm>
          <a:prstGeom prst="ellipse">
            <a:avLst/>
          </a:prstGeom>
          <a:solidFill>
            <a:srgbClr val="95D5B2"/>
          </a:solidFill>
          <a:ln/>
        </p:spPr>
      </p:sp>
      <p:sp>
        <p:nvSpPr>
          <p:cNvPr id="9" name="Text 7"/>
          <p:cNvSpPr/>
          <p:nvPr/>
        </p:nvSpPr>
        <p:spPr>
          <a:xfrm>
            <a:off x="608076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0F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60" dirty="0"/>
          </a:p>
        </p:txBody>
      </p:sp>
      <p:sp>
        <p:nvSpPr>
          <p:cNvPr id="10" name="Text 8"/>
          <p:cNvSpPr/>
          <p:nvPr/>
        </p:nvSpPr>
        <p:spPr>
          <a:xfrm>
            <a:off x="6583680" y="2395728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documents setup, features, and how to run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80760" y="3246120"/>
            <a:ext cx="365760" cy="365760"/>
          </a:xfrm>
          <a:prstGeom prst="ellipse">
            <a:avLst/>
          </a:prstGeom>
          <a:solidFill>
            <a:srgbClr val="95D5B2"/>
          </a:solidFill>
          <a:ln/>
        </p:spPr>
      </p:sp>
      <p:sp>
        <p:nvSpPr>
          <p:cNvPr id="12" name="Text 10"/>
          <p:cNvSpPr/>
          <p:nvPr/>
        </p:nvSpPr>
        <p:spPr>
          <a:xfrm>
            <a:off x="6080760" y="3246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0F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60" dirty="0"/>
          </a:p>
        </p:txBody>
      </p:sp>
      <p:sp>
        <p:nvSpPr>
          <p:cNvPr id="13" name="Text 11"/>
          <p:cNvSpPr/>
          <p:nvPr/>
        </p:nvSpPr>
        <p:spPr>
          <a:xfrm>
            <a:off x="6583680" y="3172968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10 meaningful commits tracking development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80760" y="4023360"/>
            <a:ext cx="365760" cy="365760"/>
          </a:xfrm>
          <a:prstGeom prst="ellipse">
            <a:avLst/>
          </a:prstGeom>
          <a:solidFill>
            <a:srgbClr val="95D5B2"/>
          </a:solidFill>
          <a:ln/>
        </p:spPr>
      </p:sp>
      <p:sp>
        <p:nvSpPr>
          <p:cNvPr id="15" name="Text 13"/>
          <p:cNvSpPr/>
          <p:nvPr/>
        </p:nvSpPr>
        <p:spPr>
          <a:xfrm>
            <a:off x="6080760" y="4023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0F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60" dirty="0"/>
          </a:p>
        </p:txBody>
      </p:sp>
      <p:sp>
        <p:nvSpPr>
          <p:cNvPr id="16" name="Text 14"/>
          <p:cNvSpPr/>
          <p:nvPr/>
        </p:nvSpPr>
        <p:spPr>
          <a:xfrm>
            <a:off x="6583680" y="3950208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Report, presentation, and screenshots included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80760" y="4800600"/>
            <a:ext cx="365760" cy="365760"/>
          </a:xfrm>
          <a:prstGeom prst="ellipse">
            <a:avLst/>
          </a:prstGeom>
          <a:solidFill>
            <a:srgbClr val="95D5B2"/>
          </a:solidFill>
          <a:ln/>
        </p:spPr>
      </p:sp>
      <p:sp>
        <p:nvSpPr>
          <p:cNvPr id="18" name="Text 16"/>
          <p:cNvSpPr/>
          <p:nvPr/>
        </p:nvSpPr>
        <p:spPr>
          <a:xfrm>
            <a:off x="6080760" y="4800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0F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60" dirty="0"/>
          </a:p>
        </p:txBody>
      </p:sp>
      <p:sp>
        <p:nvSpPr>
          <p:cNvPr id="19" name="Text 17"/>
          <p:cNvSpPr/>
          <p:nvPr/>
        </p:nvSpPr>
        <p:spPr>
          <a:xfrm>
            <a:off x="6583680" y="4727448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License for open use and reference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Supermarket Billing System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2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1B4332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5029200"/>
            <a:ext cx="3657600" cy="3657600"/>
          </a:xfrm>
          <a:prstGeom prst="ellipse">
            <a:avLst/>
          </a:prstGeom>
          <a:solidFill>
            <a:srgbClr val="1B4332">
              <a:alpha val="7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97280" y="2011680"/>
            <a:ext cx="9966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4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Supermarket Billing System demonstrates how core C concepts — Structures, Arrays,</a:t>
            </a:r>
            <a:endParaRPr lang="en-US" sz="15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4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Functions, and File Handling — come together to solve a real-world retail problem:</a:t>
            </a:r>
            <a:endParaRPr lang="en-US" sz="15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4F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faster, more accurate billing and better inventory management.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937760" y="3566160"/>
            <a:ext cx="2286000" cy="0"/>
          </a:xfrm>
          <a:prstGeom prst="line">
            <a:avLst/>
          </a:prstGeom>
          <a:noFill/>
          <a:ln w="12700">
            <a:solidFill>
              <a:srgbClr val="95D5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93192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C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31520" y="475488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2026-07-19T19:12:51Z</dcterms:created>
  <dcterms:modified xsi:type="dcterms:W3CDTF">2026-07-19T19:12:51Z</dcterms:modified>
</cp:coreProperties>
</file>